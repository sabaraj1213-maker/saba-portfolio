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2" roundtripDataSignature="AMtx7mj/avhZp9tsrm9Epgrf4Hrav81d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customschemas.google.com/relationships/presentationmetadata" Target="metadata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6905625" y="0"/>
            <a:ext cx="5283200" cy="3444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1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" name="Google Shape;56;p1:notes"/>
          <p:cNvSpPr txBox="1"/>
          <p:nvPr>
            <p:ph idx="12" type="sldNum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69" name="Google Shape;69;p2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3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4" name="Google Shape;94;p3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4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p4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9" name="Google Shape;169;p8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9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p9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0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0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1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2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4" name="Google Shape;204;p12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05" name="Google Shape;205;p12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3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3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1" name="Google Shape;211;p13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4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6" name="Google Shape;216;p14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17" name="Google Shape;217;p14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5:notes"/>
          <p:cNvSpPr/>
          <p:nvPr>
            <p:ph idx="2" type="sldImg"/>
          </p:nvPr>
        </p:nvSpPr>
        <p:spPr>
          <a:xfrm>
            <a:off x="4038600" y="857250"/>
            <a:ext cx="4114800" cy="23145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5:notes"/>
          <p:cNvSpPr txBox="1"/>
          <p:nvPr>
            <p:ph idx="1" type="body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23" name="Google Shape;223;p15:notes"/>
          <p:cNvSpPr txBox="1"/>
          <p:nvPr>
            <p:ph idx="12" type="sldNum"/>
          </p:nvPr>
        </p:nvSpPr>
        <p:spPr>
          <a:xfrm>
            <a:off x="6905625" y="6513513"/>
            <a:ext cx="5283300" cy="344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6:notes"/>
          <p:cNvSpPr txBox="1"/>
          <p:nvPr>
            <p:ph idx="1" type="body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8" name="Google Shape;228;p16:notes"/>
          <p:cNvSpPr/>
          <p:nvPr>
            <p:ph idx="2" type="sldImg"/>
          </p:nvPr>
        </p:nvSpPr>
        <p:spPr>
          <a:xfrm>
            <a:off x="4038600" y="857250"/>
            <a:ext cx="4114800" cy="23145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8"/>
          <p:cNvSpPr txBox="1"/>
          <p:nvPr>
            <p:ph type="ctrTitle"/>
          </p:nvPr>
        </p:nvSpPr>
        <p:spPr>
          <a:xfrm>
            <a:off x="3195574" y="2067305"/>
            <a:ext cx="5800851" cy="518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2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8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2" type="sldNum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9"/>
          <p:cNvSpPr txBox="1"/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9"/>
          <p:cNvSpPr txBox="1"/>
          <p:nvPr>
            <p:ph idx="12" type="sldNum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1"/>
          <p:cNvSpPr txBox="1"/>
          <p:nvPr>
            <p:ph idx="12" type="sldNum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2"/>
          <p:cNvSpPr txBox="1"/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4800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2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2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2" type="sldNum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/>
          <p:nvPr/>
        </p:nvSpPr>
        <p:spPr>
          <a:xfrm>
            <a:off x="9377426" y="4825"/>
            <a:ext cx="1218565" cy="6853555"/>
          </a:xfrm>
          <a:custGeom>
            <a:rect b="b" l="l" r="r" t="t"/>
            <a:pathLst>
              <a:path extrusionOk="0" h="6853555" w="1218565">
                <a:moveTo>
                  <a:pt x="0" y="0"/>
                </a:moveTo>
                <a:lnTo>
                  <a:pt x="1218352" y="6853171"/>
                </a:lnTo>
              </a:path>
            </a:pathLst>
          </a:custGeom>
          <a:noFill/>
          <a:ln cap="flat" cmpd="sng" w="9525">
            <a:solidFill>
              <a:srgbClr val="5FCA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11;p17"/>
          <p:cNvSpPr/>
          <p:nvPr/>
        </p:nvSpPr>
        <p:spPr>
          <a:xfrm>
            <a:off x="7448612" y="3694896"/>
            <a:ext cx="4743450" cy="3163570"/>
          </a:xfrm>
          <a:custGeom>
            <a:rect b="b" l="l" r="r" t="t"/>
            <a:pathLst>
              <a:path extrusionOk="0" h="3163570" w="4743450">
                <a:moveTo>
                  <a:pt x="4743387" y="0"/>
                </a:moveTo>
                <a:lnTo>
                  <a:pt x="0" y="3163101"/>
                </a:lnTo>
              </a:path>
            </a:pathLst>
          </a:custGeom>
          <a:noFill/>
          <a:ln cap="flat" cmpd="sng" w="9525">
            <a:solidFill>
              <a:srgbClr val="5FCA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" name="Google Shape;12;p17"/>
          <p:cNvSpPr/>
          <p:nvPr/>
        </p:nvSpPr>
        <p:spPr>
          <a:xfrm>
            <a:off x="9182100" y="0"/>
            <a:ext cx="3009900" cy="6858000"/>
          </a:xfrm>
          <a:custGeom>
            <a:rect b="b" l="l" r="r" t="t"/>
            <a:pathLst>
              <a:path extrusionOk="0" h="6858000" w="3009900">
                <a:moveTo>
                  <a:pt x="3009899" y="0"/>
                </a:moveTo>
                <a:lnTo>
                  <a:pt x="2044399" y="0"/>
                </a:lnTo>
                <a:lnTo>
                  <a:pt x="0" y="6857996"/>
                </a:lnTo>
                <a:lnTo>
                  <a:pt x="3009899" y="6857996"/>
                </a:lnTo>
                <a:lnTo>
                  <a:pt x="3009899" y="0"/>
                </a:lnTo>
                <a:close/>
              </a:path>
            </a:pathLst>
          </a:custGeom>
          <a:solidFill>
            <a:srgbClr val="5FCAEE">
              <a:alpha val="35294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7"/>
          <p:cNvSpPr/>
          <p:nvPr/>
        </p:nvSpPr>
        <p:spPr>
          <a:xfrm>
            <a:off x="9602878" y="0"/>
            <a:ext cx="2589530" cy="6858000"/>
          </a:xfrm>
          <a:custGeom>
            <a:rect b="b" l="l" r="r" t="t"/>
            <a:pathLst>
              <a:path extrusionOk="0" h="6858000" w="2589529">
                <a:moveTo>
                  <a:pt x="2589120" y="0"/>
                </a:moveTo>
                <a:lnTo>
                  <a:pt x="0" y="0"/>
                </a:lnTo>
                <a:lnTo>
                  <a:pt x="1208884" y="6857996"/>
                </a:lnTo>
                <a:lnTo>
                  <a:pt x="2589120" y="6857996"/>
                </a:lnTo>
                <a:lnTo>
                  <a:pt x="2589120" y="0"/>
                </a:lnTo>
                <a:close/>
              </a:path>
            </a:pathLst>
          </a:custGeom>
          <a:solidFill>
            <a:srgbClr val="5FCAEE">
              <a:alpha val="19215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7"/>
          <p:cNvSpPr/>
          <p:nvPr/>
        </p:nvSpPr>
        <p:spPr>
          <a:xfrm>
            <a:off x="8934450" y="3048000"/>
            <a:ext cx="3257550" cy="3810000"/>
          </a:xfrm>
          <a:custGeom>
            <a:rect b="b" l="l" r="r" t="t"/>
            <a:pathLst>
              <a:path extrusionOk="0" h="3810000" w="3257550">
                <a:moveTo>
                  <a:pt x="3257550" y="0"/>
                </a:moveTo>
                <a:lnTo>
                  <a:pt x="0" y="3810000"/>
                </a:lnTo>
                <a:lnTo>
                  <a:pt x="3257550" y="3810000"/>
                </a:lnTo>
                <a:lnTo>
                  <a:pt x="3257550" y="0"/>
                </a:lnTo>
                <a:close/>
              </a:path>
            </a:pathLst>
          </a:custGeom>
          <a:solidFill>
            <a:srgbClr val="17AFE3">
              <a:alpha val="6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7"/>
          <p:cNvSpPr/>
          <p:nvPr/>
        </p:nvSpPr>
        <p:spPr>
          <a:xfrm>
            <a:off x="9337930" y="0"/>
            <a:ext cx="2854325" cy="6858000"/>
          </a:xfrm>
          <a:custGeom>
            <a:rect b="b" l="l" r="r" t="t"/>
            <a:pathLst>
              <a:path extrusionOk="0" h="6858000" w="2854325">
                <a:moveTo>
                  <a:pt x="2854069" y="0"/>
                </a:moveTo>
                <a:lnTo>
                  <a:pt x="0" y="0"/>
                </a:lnTo>
                <a:lnTo>
                  <a:pt x="2470020" y="6857996"/>
                </a:lnTo>
                <a:lnTo>
                  <a:pt x="2854069" y="6857996"/>
                </a:lnTo>
                <a:lnTo>
                  <a:pt x="2854069" y="0"/>
                </a:lnTo>
                <a:close/>
              </a:path>
            </a:pathLst>
          </a:custGeom>
          <a:solidFill>
            <a:srgbClr val="17AFE3">
              <a:alpha val="4941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7"/>
          <p:cNvSpPr/>
          <p:nvPr/>
        </p:nvSpPr>
        <p:spPr>
          <a:xfrm>
            <a:off x="10896600" y="0"/>
            <a:ext cx="1295400" cy="6858000"/>
          </a:xfrm>
          <a:custGeom>
            <a:rect b="b" l="l" r="r" t="t"/>
            <a:pathLst>
              <a:path extrusionOk="0" h="6858000" w="1295400">
                <a:moveTo>
                  <a:pt x="1295399" y="0"/>
                </a:moveTo>
                <a:lnTo>
                  <a:pt x="1022453" y="0"/>
                </a:lnTo>
                <a:lnTo>
                  <a:pt x="0" y="6857996"/>
                </a:lnTo>
                <a:lnTo>
                  <a:pt x="1295399" y="6857996"/>
                </a:lnTo>
                <a:lnTo>
                  <a:pt x="1295399" y="0"/>
                </a:lnTo>
                <a:close/>
              </a:path>
            </a:pathLst>
          </a:custGeom>
          <a:solidFill>
            <a:srgbClr val="2D83C3">
              <a:alpha val="6941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7"/>
          <p:cNvSpPr/>
          <p:nvPr/>
        </p:nvSpPr>
        <p:spPr>
          <a:xfrm>
            <a:off x="10936247" y="0"/>
            <a:ext cx="1256030" cy="6858000"/>
          </a:xfrm>
          <a:custGeom>
            <a:rect b="b" l="l" r="r" t="t"/>
            <a:pathLst>
              <a:path extrusionOk="0" h="6858000" w="1256029">
                <a:moveTo>
                  <a:pt x="1255752" y="0"/>
                </a:moveTo>
                <a:lnTo>
                  <a:pt x="0" y="0"/>
                </a:lnTo>
                <a:lnTo>
                  <a:pt x="1114527" y="6857996"/>
                </a:lnTo>
                <a:lnTo>
                  <a:pt x="1255752" y="6857996"/>
                </a:lnTo>
                <a:lnTo>
                  <a:pt x="1255752" y="0"/>
                </a:lnTo>
                <a:close/>
              </a:path>
            </a:pathLst>
          </a:custGeom>
          <a:solidFill>
            <a:srgbClr val="226192">
              <a:alpha val="79215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7"/>
          <p:cNvSpPr/>
          <p:nvPr/>
        </p:nvSpPr>
        <p:spPr>
          <a:xfrm>
            <a:off x="10372725" y="3590925"/>
            <a:ext cx="1819275" cy="3267075"/>
          </a:xfrm>
          <a:custGeom>
            <a:rect b="b" l="l" r="r" t="t"/>
            <a:pathLst>
              <a:path extrusionOk="0" h="3267075" w="1819275">
                <a:moveTo>
                  <a:pt x="1819275" y="0"/>
                </a:moveTo>
                <a:lnTo>
                  <a:pt x="0" y="3267075"/>
                </a:lnTo>
                <a:lnTo>
                  <a:pt x="1819275" y="3267075"/>
                </a:lnTo>
                <a:lnTo>
                  <a:pt x="1819275" y="0"/>
                </a:lnTo>
                <a:close/>
              </a:path>
            </a:pathLst>
          </a:custGeom>
          <a:solidFill>
            <a:srgbClr val="17AFE3">
              <a:alpha val="65098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7"/>
          <p:cNvSpPr/>
          <p:nvPr/>
        </p:nvSpPr>
        <p:spPr>
          <a:xfrm>
            <a:off x="0" y="4010025"/>
            <a:ext cx="447675" cy="2847975"/>
          </a:xfrm>
          <a:custGeom>
            <a:rect b="b" l="l" r="r" t="t"/>
            <a:pathLst>
              <a:path extrusionOk="0" h="2847975" w="4476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6941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7"/>
          <p:cNvSpPr txBox="1"/>
          <p:nvPr>
            <p:ph type="title"/>
          </p:nvPr>
        </p:nvSpPr>
        <p:spPr>
          <a:xfrm>
            <a:off x="755332" y="385444"/>
            <a:ext cx="10681335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1" i="0" sz="48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p17"/>
          <p:cNvSpPr txBox="1"/>
          <p:nvPr>
            <p:ph idx="1" type="body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1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1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4" name="Google Shape;24;p17"/>
          <p:cNvSpPr txBox="1"/>
          <p:nvPr>
            <p:ph idx="12" type="sldNum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1pPr>
            <a:lvl2pPr indent="0" lvl="1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2pPr>
            <a:lvl3pPr indent="0" lvl="2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3pPr>
            <a:lvl4pPr indent="0" lvl="3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4pPr>
            <a:lvl5pPr indent="0" lvl="4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5pPr>
            <a:lvl6pPr indent="0" lvl="5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6pPr>
            <a:lvl7pPr indent="0" lvl="6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7pPr>
            <a:lvl8pPr indent="0" lvl="7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8pPr>
            <a:lvl9pPr indent="0" lvl="8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defRPr b="0" i="0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defRPr>
            </a:lvl9pPr>
          </a:lstStyle>
          <a:p>
            <a:pPr indent="0" lvl="0" marL="3810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1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1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sabaraj1213-maker.github.io/saba-portfolio" TargetMode="External"/><Relationship Id="rId4" Type="http://schemas.openxmlformats.org/officeDocument/2006/relationships/image" Target="../media/image6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jpg"/><Relationship Id="rId4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0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png"/><Relationship Id="rId4" Type="http://schemas.openxmlformats.org/officeDocument/2006/relationships/hyperlink" Target="https://sabaraj1213-maker.github.io/saba-portfolio" TargetMode="External"/><Relationship Id="rId5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" name="Google Shape;58;p1"/>
          <p:cNvGrpSpPr/>
          <p:nvPr/>
        </p:nvGrpSpPr>
        <p:grpSpPr>
          <a:xfrm>
            <a:off x="876299" y="990600"/>
            <a:ext cx="1743075" cy="1333500"/>
            <a:chOff x="742950" y="1104900"/>
            <a:chExt cx="1743075" cy="1333500"/>
          </a:xfrm>
        </p:grpSpPr>
        <p:sp>
          <p:nvSpPr>
            <p:cNvPr id="59" name="Google Shape;59;p1"/>
            <p:cNvSpPr/>
            <p:nvPr/>
          </p:nvSpPr>
          <p:spPr>
            <a:xfrm>
              <a:off x="742950" y="1381125"/>
              <a:ext cx="1228725" cy="1057275"/>
            </a:xfrm>
            <a:custGeom>
              <a:rect b="b" l="l" r="r" t="t"/>
              <a:pathLst>
                <a:path extrusionOk="0" h="1057275" w="1228725">
                  <a:moveTo>
                    <a:pt x="964438" y="0"/>
                  </a:moveTo>
                  <a:lnTo>
                    <a:pt x="264312" y="0"/>
                  </a:lnTo>
                  <a:lnTo>
                    <a:pt x="0" y="528701"/>
                  </a:lnTo>
                  <a:lnTo>
                    <a:pt x="264312" y="1057275"/>
                  </a:lnTo>
                  <a:lnTo>
                    <a:pt x="964438" y="1057275"/>
                  </a:lnTo>
                  <a:lnTo>
                    <a:pt x="1228725" y="528701"/>
                  </a:lnTo>
                  <a:lnTo>
                    <a:pt x="964438" y="0"/>
                  </a:lnTo>
                  <a:close/>
                </a:path>
              </a:pathLst>
            </a:custGeom>
            <a:solidFill>
              <a:srgbClr val="5FCAE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60;p1"/>
            <p:cNvSpPr/>
            <p:nvPr/>
          </p:nvSpPr>
          <p:spPr>
            <a:xfrm>
              <a:off x="1838325" y="1104900"/>
              <a:ext cx="647700" cy="561975"/>
            </a:xfrm>
            <a:custGeom>
              <a:rect b="b" l="l" r="r" t="t"/>
              <a:pathLst>
                <a:path extrusionOk="0" h="561975" w="647700">
                  <a:moveTo>
                    <a:pt x="507238" y="0"/>
                  </a:moveTo>
                  <a:lnTo>
                    <a:pt x="140462" y="0"/>
                  </a:lnTo>
                  <a:lnTo>
                    <a:pt x="0" y="280924"/>
                  </a:lnTo>
                  <a:lnTo>
                    <a:pt x="140462" y="561975"/>
                  </a:lnTo>
                  <a:lnTo>
                    <a:pt x="507238" y="561975"/>
                  </a:lnTo>
                  <a:lnTo>
                    <a:pt x="647700" y="280924"/>
                  </a:lnTo>
                  <a:lnTo>
                    <a:pt x="507238" y="0"/>
                  </a:lnTo>
                  <a:close/>
                </a:path>
              </a:pathLst>
            </a:custGeom>
            <a:solidFill>
              <a:srgbClr val="2D93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" name="Google Shape;61;p1"/>
          <p:cNvSpPr/>
          <p:nvPr/>
        </p:nvSpPr>
        <p:spPr>
          <a:xfrm>
            <a:off x="3752850" y="1190625"/>
            <a:ext cx="1666875" cy="1438275"/>
          </a:xfrm>
          <a:custGeom>
            <a:rect b="b" l="l" r="r" t="t"/>
            <a:pathLst>
              <a:path extrusionOk="0" h="1438275" w="1666875">
                <a:moveTo>
                  <a:pt x="1307338" y="0"/>
                </a:moveTo>
                <a:lnTo>
                  <a:pt x="359537" y="0"/>
                </a:lnTo>
                <a:lnTo>
                  <a:pt x="0" y="719074"/>
                </a:lnTo>
                <a:lnTo>
                  <a:pt x="359537" y="1438275"/>
                </a:lnTo>
                <a:lnTo>
                  <a:pt x="1307338" y="1438275"/>
                </a:lnTo>
                <a:lnTo>
                  <a:pt x="1666875" y="719074"/>
                </a:lnTo>
                <a:lnTo>
                  <a:pt x="1307338" y="0"/>
                </a:lnTo>
                <a:close/>
              </a:path>
            </a:pathLst>
          </a:custGeom>
          <a:solidFill>
            <a:srgbClr val="42D0A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3800475" y="5229225"/>
            <a:ext cx="723900" cy="619125"/>
          </a:xfrm>
          <a:custGeom>
            <a:rect b="b" l="l" r="r" t="t"/>
            <a:pathLst>
              <a:path extrusionOk="0" h="619125" w="723900">
                <a:moveTo>
                  <a:pt x="569087" y="0"/>
                </a:moveTo>
                <a:lnTo>
                  <a:pt x="154812" y="0"/>
                </a:lnTo>
                <a:lnTo>
                  <a:pt x="0" y="309625"/>
                </a:lnTo>
                <a:lnTo>
                  <a:pt x="154812" y="619125"/>
                </a:lnTo>
                <a:lnTo>
                  <a:pt x="569087" y="619125"/>
                </a:lnTo>
                <a:lnTo>
                  <a:pt x="723900" y="309625"/>
                </a:lnTo>
                <a:lnTo>
                  <a:pt x="569087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6467475"/>
            <a:ext cx="2143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1"/>
          <p:cNvSpPr txBox="1"/>
          <p:nvPr>
            <p:ph idx="12" type="sldNum"/>
          </p:nvPr>
        </p:nvSpPr>
        <p:spPr>
          <a:xfrm>
            <a:off x="11353418" y="6473337"/>
            <a:ext cx="1512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936B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5" name="Google Shape;65;p1"/>
          <p:cNvSpPr txBox="1"/>
          <p:nvPr/>
        </p:nvSpPr>
        <p:spPr>
          <a:xfrm>
            <a:off x="0" y="2324102"/>
            <a:ext cx="12192000" cy="589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STUDENT NAME:  R</a:t>
            </a: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AJ A</a:t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REGISTER NO AND NMID: 2124038</a:t>
            </a:r>
            <a:r>
              <a:rPr b="1" i="0" lang="en-US" sz="3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71</a:t>
            </a: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/01B74CB9C9ECF4A9AA341D4E003F5059</a:t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DEPARTMENT :BCA(Computer application)</a:t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COLLEGE: COLLEGE/UNIVERSITY :Tagore college of arts and science.  (University of Madras)</a:t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</a:t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1" i="0" sz="3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"/>
          <p:cNvSpPr txBox="1"/>
          <p:nvPr/>
        </p:nvSpPr>
        <p:spPr>
          <a:xfrm>
            <a:off x="1219198" y="761716"/>
            <a:ext cx="97536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00"/>
              <a:buFont typeface="Arial"/>
              <a:buNone/>
            </a:pPr>
            <a:r>
              <a:rPr b="0" i="0" lang="en-US" sz="65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Digital Portfolio </a:t>
            </a:r>
            <a:endParaRPr b="0" i="0" sz="6500" u="none" cap="none" strike="noStrike">
              <a:solidFill>
                <a:srgbClr val="000000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72" name="Google Shape;72;p2"/>
          <p:cNvGrpSpPr/>
          <p:nvPr/>
        </p:nvGrpSpPr>
        <p:grpSpPr>
          <a:xfrm>
            <a:off x="7448612" y="0"/>
            <a:ext cx="4743795" cy="6858466"/>
            <a:chOff x="7448612" y="0"/>
            <a:chExt cx="4743795" cy="6858466"/>
          </a:xfrm>
        </p:grpSpPr>
        <p:sp>
          <p:nvSpPr>
            <p:cNvPr id="73" name="Google Shape;73;p2"/>
            <p:cNvSpPr/>
            <p:nvPr/>
          </p:nvSpPr>
          <p:spPr>
            <a:xfrm>
              <a:off x="9377426" y="4825"/>
              <a:ext cx="1218565" cy="6853555"/>
            </a:xfrm>
            <a:custGeom>
              <a:rect b="b" l="l" r="r" t="t"/>
              <a:pathLst>
                <a:path extrusionOk="0" h="6853555" w="121856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noFill/>
            <a:ln cap="flat" cmpd="sng" w="9525">
              <a:solidFill>
                <a:srgbClr val="5FC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7448612" y="3694896"/>
              <a:ext cx="4743450" cy="3163570"/>
            </a:xfrm>
            <a:custGeom>
              <a:rect b="b" l="l" r="r" t="t"/>
              <a:pathLst>
                <a:path extrusionOk="0" h="3163570" w="474345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noFill/>
            <a:ln cap="flat" cmpd="sng" w="9525">
              <a:solidFill>
                <a:srgbClr val="5FC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9182100" y="0"/>
              <a:ext cx="3009900" cy="6858000"/>
            </a:xfrm>
            <a:custGeom>
              <a:rect b="b" l="l" r="r" t="t"/>
              <a:pathLst>
                <a:path extrusionOk="0" h="6858000" w="30099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5294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9602878" y="0"/>
              <a:ext cx="2589529" cy="6858000"/>
            </a:xfrm>
            <a:custGeom>
              <a:rect b="b" l="l" r="r" t="t"/>
              <a:pathLst>
                <a:path extrusionOk="0" h="6858000" w="2589529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21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8934450" y="3048000"/>
              <a:ext cx="3257550" cy="3810000"/>
            </a:xfrm>
            <a:custGeom>
              <a:rect b="b" l="l" r="r" t="t"/>
              <a:pathLst>
                <a:path extrusionOk="0" h="3810000" w="325755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470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9337930" y="0"/>
              <a:ext cx="2854325" cy="6858000"/>
            </a:xfrm>
            <a:custGeom>
              <a:rect b="b" l="l" r="r" t="t"/>
              <a:pathLst>
                <a:path extrusionOk="0" h="6858000" w="2854325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4862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10896600" y="0"/>
              <a:ext cx="1295400" cy="6858000"/>
            </a:xfrm>
            <a:custGeom>
              <a:rect b="b" l="l" r="r" t="t"/>
              <a:pathLst>
                <a:path extrusionOk="0" h="6858000" w="12954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6862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10936247" y="0"/>
              <a:ext cx="1256029" cy="6858000"/>
            </a:xfrm>
            <a:custGeom>
              <a:rect b="b" l="l" r="r" t="t"/>
              <a:pathLst>
                <a:path extrusionOk="0" h="6858000" w="1256029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21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10372725" y="3590925"/>
              <a:ext cx="1819275" cy="3267075"/>
            </a:xfrm>
            <a:custGeom>
              <a:rect b="b" l="l" r="r" t="t"/>
              <a:pathLst>
                <a:path extrusionOk="0" h="3267075" w="18192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470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2" name="Google Shape;82;p2"/>
          <p:cNvSpPr/>
          <p:nvPr/>
        </p:nvSpPr>
        <p:spPr>
          <a:xfrm>
            <a:off x="0" y="4010025"/>
            <a:ext cx="447675" cy="2847975"/>
          </a:xfrm>
          <a:custGeom>
            <a:rect b="b" l="l" r="r" t="t"/>
            <a:pathLst>
              <a:path extrusionOk="0" h="2847975" w="4476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6862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2"/>
          <p:cNvSpPr/>
          <p:nvPr/>
        </p:nvSpPr>
        <p:spPr>
          <a:xfrm>
            <a:off x="9353550" y="5362575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"/>
          <p:cNvSpPr/>
          <p:nvPr/>
        </p:nvSpPr>
        <p:spPr>
          <a:xfrm>
            <a:off x="6696075" y="1695450"/>
            <a:ext cx="314325" cy="323850"/>
          </a:xfrm>
          <a:custGeom>
            <a:rect b="b" l="l" r="r" t="t"/>
            <a:pathLst>
              <a:path extrusionOk="0" h="323850" w="314325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"/>
          <p:cNvSpPr/>
          <p:nvPr/>
        </p:nvSpPr>
        <p:spPr>
          <a:xfrm>
            <a:off x="9353550" y="5895975"/>
            <a:ext cx="180975" cy="180975"/>
          </a:xfrm>
          <a:custGeom>
            <a:rect b="b" l="l" r="r" t="t"/>
            <a:pathLst>
              <a:path extrusionOk="0" h="180975" w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2"/>
          <p:cNvSpPr txBox="1"/>
          <p:nvPr>
            <p:ph type="title"/>
          </p:nvPr>
        </p:nvSpPr>
        <p:spPr>
          <a:xfrm>
            <a:off x="739775" y="829627"/>
            <a:ext cx="39096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Trebuchet MS"/>
              <a:buNone/>
            </a:pPr>
            <a:r>
              <a:rPr lang="en-US" sz="4250"/>
              <a:t>PROJECT TITLE</a:t>
            </a:r>
            <a:endParaRPr sz="4250"/>
          </a:p>
        </p:txBody>
      </p:sp>
      <p:grpSp>
        <p:nvGrpSpPr>
          <p:cNvPr id="87" name="Google Shape;87;p2"/>
          <p:cNvGrpSpPr/>
          <p:nvPr/>
        </p:nvGrpSpPr>
        <p:grpSpPr>
          <a:xfrm>
            <a:off x="466725" y="6410325"/>
            <a:ext cx="3705225" cy="295275"/>
            <a:chOff x="466725" y="6410325"/>
            <a:chExt cx="3705225" cy="295275"/>
          </a:xfrm>
        </p:grpSpPr>
        <p:pic>
          <p:nvPicPr>
            <p:cNvPr id="88" name="Google Shape;88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76275" y="6467475"/>
              <a:ext cx="2143125" cy="2000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9" name="Google Shape;89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0" name="Google Shape;90;p2"/>
          <p:cNvSpPr txBox="1"/>
          <p:nvPr>
            <p:ph idx="12" type="sldNum"/>
          </p:nvPr>
        </p:nvSpPr>
        <p:spPr>
          <a:xfrm>
            <a:off x="11353418" y="6473337"/>
            <a:ext cx="1512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936B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"/>
          <p:cNvSpPr txBox="1"/>
          <p:nvPr/>
        </p:nvSpPr>
        <p:spPr>
          <a:xfrm>
            <a:off x="1213100" y="2866527"/>
            <a:ext cx="101403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0"/>
              <a:buFont typeface="Arial"/>
              <a:buNone/>
            </a:pPr>
            <a:r>
              <a:rPr b="1" i="0" lang="en-US" sz="7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RAJ</a:t>
            </a:r>
            <a:r>
              <a:rPr b="1" i="0" lang="en-US" sz="7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portfolio project </a:t>
            </a:r>
            <a:endParaRPr b="1" i="0" sz="5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"/>
          <p:cNvSpPr/>
          <p:nvPr/>
        </p:nvSpPr>
        <p:spPr>
          <a:xfrm>
            <a:off x="-76200" y="28579"/>
            <a:ext cx="12481713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1F1F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7" name="Google Shape;97;p3"/>
          <p:cNvGrpSpPr/>
          <p:nvPr/>
        </p:nvGrpSpPr>
        <p:grpSpPr>
          <a:xfrm>
            <a:off x="7448612" y="0"/>
            <a:ext cx="4743796" cy="6858466"/>
            <a:chOff x="7448612" y="0"/>
            <a:chExt cx="4743796" cy="6858466"/>
          </a:xfrm>
        </p:grpSpPr>
        <p:sp>
          <p:nvSpPr>
            <p:cNvPr id="98" name="Google Shape;98;p3"/>
            <p:cNvSpPr/>
            <p:nvPr/>
          </p:nvSpPr>
          <p:spPr>
            <a:xfrm>
              <a:off x="9377426" y="4825"/>
              <a:ext cx="1218565" cy="6853555"/>
            </a:xfrm>
            <a:custGeom>
              <a:rect b="b" l="l" r="r" t="t"/>
              <a:pathLst>
                <a:path extrusionOk="0" h="6853555" w="1218565">
                  <a:moveTo>
                    <a:pt x="0" y="0"/>
                  </a:moveTo>
                  <a:lnTo>
                    <a:pt x="1218352" y="6853171"/>
                  </a:lnTo>
                </a:path>
              </a:pathLst>
            </a:custGeom>
            <a:noFill/>
            <a:ln cap="flat" cmpd="sng" w="9525">
              <a:solidFill>
                <a:srgbClr val="5FC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3"/>
            <p:cNvSpPr/>
            <p:nvPr/>
          </p:nvSpPr>
          <p:spPr>
            <a:xfrm>
              <a:off x="7448612" y="3694896"/>
              <a:ext cx="4743450" cy="3163570"/>
            </a:xfrm>
            <a:custGeom>
              <a:rect b="b" l="l" r="r" t="t"/>
              <a:pathLst>
                <a:path extrusionOk="0" h="3163570" w="4743450">
                  <a:moveTo>
                    <a:pt x="4743387" y="0"/>
                  </a:moveTo>
                  <a:lnTo>
                    <a:pt x="0" y="3163101"/>
                  </a:lnTo>
                </a:path>
              </a:pathLst>
            </a:custGeom>
            <a:noFill/>
            <a:ln cap="flat" cmpd="sng" w="9525">
              <a:solidFill>
                <a:srgbClr val="5FCAE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0" name="Google Shape;100;p3"/>
            <p:cNvSpPr/>
            <p:nvPr/>
          </p:nvSpPr>
          <p:spPr>
            <a:xfrm>
              <a:off x="9182100" y="0"/>
              <a:ext cx="3009900" cy="6858000"/>
            </a:xfrm>
            <a:custGeom>
              <a:rect b="b" l="l" r="r" t="t"/>
              <a:pathLst>
                <a:path extrusionOk="0" h="6858000" w="3009900">
                  <a:moveTo>
                    <a:pt x="3009899" y="0"/>
                  </a:moveTo>
                  <a:lnTo>
                    <a:pt x="2044399" y="0"/>
                  </a:lnTo>
                  <a:lnTo>
                    <a:pt x="0" y="6857996"/>
                  </a:lnTo>
                  <a:lnTo>
                    <a:pt x="3009899" y="6857996"/>
                  </a:lnTo>
                  <a:lnTo>
                    <a:pt x="3009899" y="0"/>
                  </a:lnTo>
                  <a:close/>
                </a:path>
              </a:pathLst>
            </a:custGeom>
            <a:solidFill>
              <a:srgbClr val="5FCAEE">
                <a:alpha val="35294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3"/>
            <p:cNvSpPr/>
            <p:nvPr/>
          </p:nvSpPr>
          <p:spPr>
            <a:xfrm>
              <a:off x="9602878" y="0"/>
              <a:ext cx="2589530" cy="6858000"/>
            </a:xfrm>
            <a:custGeom>
              <a:rect b="b" l="l" r="r" t="t"/>
              <a:pathLst>
                <a:path extrusionOk="0" h="6858000" w="2589529">
                  <a:moveTo>
                    <a:pt x="2589120" y="0"/>
                  </a:moveTo>
                  <a:lnTo>
                    <a:pt x="0" y="0"/>
                  </a:lnTo>
                  <a:lnTo>
                    <a:pt x="1208884" y="6857996"/>
                  </a:lnTo>
                  <a:lnTo>
                    <a:pt x="2589120" y="6857996"/>
                  </a:lnTo>
                  <a:lnTo>
                    <a:pt x="2589120" y="0"/>
                  </a:lnTo>
                  <a:close/>
                </a:path>
              </a:pathLst>
            </a:custGeom>
            <a:solidFill>
              <a:srgbClr val="5FCAEE">
                <a:alpha val="1921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3"/>
            <p:cNvSpPr/>
            <p:nvPr/>
          </p:nvSpPr>
          <p:spPr>
            <a:xfrm>
              <a:off x="8934450" y="3048000"/>
              <a:ext cx="3257550" cy="3810000"/>
            </a:xfrm>
            <a:custGeom>
              <a:rect b="b" l="l" r="r" t="t"/>
              <a:pathLst>
                <a:path extrusionOk="0" h="3810000" w="3257550">
                  <a:moveTo>
                    <a:pt x="3257550" y="0"/>
                  </a:moveTo>
                  <a:lnTo>
                    <a:pt x="0" y="3810000"/>
                  </a:lnTo>
                  <a:lnTo>
                    <a:pt x="3257550" y="3810000"/>
                  </a:lnTo>
                  <a:lnTo>
                    <a:pt x="3257550" y="0"/>
                  </a:lnTo>
                  <a:close/>
                </a:path>
              </a:pathLst>
            </a:custGeom>
            <a:solidFill>
              <a:srgbClr val="17AFE3">
                <a:alpha val="6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3" name="Google Shape;103;p3"/>
            <p:cNvSpPr/>
            <p:nvPr/>
          </p:nvSpPr>
          <p:spPr>
            <a:xfrm>
              <a:off x="9337930" y="0"/>
              <a:ext cx="2854325" cy="6858000"/>
            </a:xfrm>
            <a:custGeom>
              <a:rect b="b" l="l" r="r" t="t"/>
              <a:pathLst>
                <a:path extrusionOk="0" h="6858000" w="2854325">
                  <a:moveTo>
                    <a:pt x="2854069" y="0"/>
                  </a:moveTo>
                  <a:lnTo>
                    <a:pt x="0" y="0"/>
                  </a:lnTo>
                  <a:lnTo>
                    <a:pt x="2470020" y="6857996"/>
                  </a:lnTo>
                  <a:lnTo>
                    <a:pt x="2854069" y="6857996"/>
                  </a:lnTo>
                  <a:lnTo>
                    <a:pt x="2854069" y="0"/>
                  </a:lnTo>
                  <a:close/>
                </a:path>
              </a:pathLst>
            </a:custGeom>
            <a:solidFill>
              <a:srgbClr val="17AFE3">
                <a:alpha val="4941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3"/>
            <p:cNvSpPr/>
            <p:nvPr/>
          </p:nvSpPr>
          <p:spPr>
            <a:xfrm>
              <a:off x="10896600" y="0"/>
              <a:ext cx="1295400" cy="6858000"/>
            </a:xfrm>
            <a:custGeom>
              <a:rect b="b" l="l" r="r" t="t"/>
              <a:pathLst>
                <a:path extrusionOk="0" h="6858000" w="1295400">
                  <a:moveTo>
                    <a:pt x="1295399" y="0"/>
                  </a:moveTo>
                  <a:lnTo>
                    <a:pt x="1022453" y="0"/>
                  </a:lnTo>
                  <a:lnTo>
                    <a:pt x="0" y="6857996"/>
                  </a:lnTo>
                  <a:lnTo>
                    <a:pt x="1295399" y="6857996"/>
                  </a:lnTo>
                  <a:lnTo>
                    <a:pt x="1295399" y="0"/>
                  </a:lnTo>
                  <a:close/>
                </a:path>
              </a:pathLst>
            </a:custGeom>
            <a:solidFill>
              <a:srgbClr val="2D83C3">
                <a:alpha val="69411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3"/>
            <p:cNvSpPr/>
            <p:nvPr/>
          </p:nvSpPr>
          <p:spPr>
            <a:xfrm>
              <a:off x="10936247" y="0"/>
              <a:ext cx="1256030" cy="6858000"/>
            </a:xfrm>
            <a:custGeom>
              <a:rect b="b" l="l" r="r" t="t"/>
              <a:pathLst>
                <a:path extrusionOk="0" h="6858000" w="1256029">
                  <a:moveTo>
                    <a:pt x="1255752" y="0"/>
                  </a:moveTo>
                  <a:lnTo>
                    <a:pt x="0" y="0"/>
                  </a:lnTo>
                  <a:lnTo>
                    <a:pt x="1114527" y="6857996"/>
                  </a:lnTo>
                  <a:lnTo>
                    <a:pt x="1255752" y="6857996"/>
                  </a:lnTo>
                  <a:lnTo>
                    <a:pt x="1255752" y="0"/>
                  </a:lnTo>
                  <a:close/>
                </a:path>
              </a:pathLst>
            </a:custGeom>
            <a:solidFill>
              <a:srgbClr val="226192">
                <a:alpha val="79215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3"/>
            <p:cNvSpPr/>
            <p:nvPr/>
          </p:nvSpPr>
          <p:spPr>
            <a:xfrm>
              <a:off x="10372725" y="3590925"/>
              <a:ext cx="1819275" cy="3267075"/>
            </a:xfrm>
            <a:custGeom>
              <a:rect b="b" l="l" r="r" t="t"/>
              <a:pathLst>
                <a:path extrusionOk="0" h="3267075" w="1819275">
                  <a:moveTo>
                    <a:pt x="1819275" y="0"/>
                  </a:moveTo>
                  <a:lnTo>
                    <a:pt x="0" y="3267075"/>
                  </a:lnTo>
                  <a:lnTo>
                    <a:pt x="1819275" y="3267075"/>
                  </a:lnTo>
                  <a:lnTo>
                    <a:pt x="1819275" y="0"/>
                  </a:lnTo>
                  <a:close/>
                </a:path>
              </a:pathLst>
            </a:custGeom>
            <a:solidFill>
              <a:srgbClr val="17AFE3">
                <a:alpha val="65098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3"/>
          <p:cNvSpPr/>
          <p:nvPr/>
        </p:nvSpPr>
        <p:spPr>
          <a:xfrm>
            <a:off x="0" y="4010025"/>
            <a:ext cx="447675" cy="2847975"/>
          </a:xfrm>
          <a:custGeom>
            <a:rect b="b" l="l" r="r" t="t"/>
            <a:pathLst>
              <a:path extrusionOk="0" h="2847975" w="447675">
                <a:moveTo>
                  <a:pt x="0" y="0"/>
                </a:moveTo>
                <a:lnTo>
                  <a:pt x="0" y="2847975"/>
                </a:lnTo>
                <a:lnTo>
                  <a:pt x="447675" y="2847975"/>
                </a:lnTo>
                <a:lnTo>
                  <a:pt x="0" y="0"/>
                </a:lnTo>
                <a:close/>
              </a:path>
            </a:pathLst>
          </a:custGeom>
          <a:solidFill>
            <a:srgbClr val="5FCAEE">
              <a:alpha val="69411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/>
        </p:nvSpPr>
        <p:spPr>
          <a:xfrm>
            <a:off x="752475" y="6486037"/>
            <a:ext cx="1773555" cy="166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90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2D83C3"/>
                </a:solidFill>
                <a:latin typeface="Trebuchet MS"/>
                <a:ea typeface="Trebuchet MS"/>
                <a:cs typeface="Trebuchet MS"/>
                <a:sym typeface="Trebuchet MS"/>
              </a:rPr>
              <a:t>3/21/2024  </a:t>
            </a:r>
            <a:r>
              <a:rPr b="1" i="0" lang="en-US" sz="1100" u="none" cap="none" strike="noStrike">
                <a:solidFill>
                  <a:srgbClr val="2D83C3"/>
                </a:solidFill>
                <a:latin typeface="Trebuchet MS"/>
                <a:ea typeface="Trebuchet MS"/>
                <a:cs typeface="Trebuchet MS"/>
                <a:sym typeface="Trebuchet MS"/>
              </a:rPr>
              <a:t>Annual Review</a:t>
            </a:r>
            <a:endParaRPr b="0"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7362825" y="447675"/>
            <a:ext cx="361950" cy="361950"/>
          </a:xfrm>
          <a:custGeom>
            <a:rect b="b" l="l" r="r" t="t"/>
            <a:pathLst>
              <a:path extrusionOk="0" h="361950" w="361950">
                <a:moveTo>
                  <a:pt x="180975" y="0"/>
                </a:moveTo>
                <a:lnTo>
                  <a:pt x="132864" y="6464"/>
                </a:lnTo>
                <a:lnTo>
                  <a:pt x="89633" y="24708"/>
                </a:lnTo>
                <a:lnTo>
                  <a:pt x="53006" y="53006"/>
                </a:lnTo>
                <a:lnTo>
                  <a:pt x="24708" y="89633"/>
                </a:lnTo>
                <a:lnTo>
                  <a:pt x="6464" y="132864"/>
                </a:lnTo>
                <a:lnTo>
                  <a:pt x="0" y="180975"/>
                </a:lnTo>
                <a:lnTo>
                  <a:pt x="6464" y="229085"/>
                </a:lnTo>
                <a:lnTo>
                  <a:pt x="24708" y="272316"/>
                </a:lnTo>
                <a:lnTo>
                  <a:pt x="53006" y="308943"/>
                </a:lnTo>
                <a:lnTo>
                  <a:pt x="89633" y="337241"/>
                </a:lnTo>
                <a:lnTo>
                  <a:pt x="132864" y="355485"/>
                </a:lnTo>
                <a:lnTo>
                  <a:pt x="180975" y="361950"/>
                </a:lnTo>
                <a:lnTo>
                  <a:pt x="229085" y="355485"/>
                </a:lnTo>
                <a:lnTo>
                  <a:pt x="272316" y="337241"/>
                </a:lnTo>
                <a:lnTo>
                  <a:pt x="308943" y="308943"/>
                </a:lnTo>
                <a:lnTo>
                  <a:pt x="337241" y="272316"/>
                </a:lnTo>
                <a:lnTo>
                  <a:pt x="355485" y="229085"/>
                </a:lnTo>
                <a:lnTo>
                  <a:pt x="361950" y="180975"/>
                </a:lnTo>
                <a:lnTo>
                  <a:pt x="355485" y="132864"/>
                </a:lnTo>
                <a:lnTo>
                  <a:pt x="337241" y="89633"/>
                </a:lnTo>
                <a:lnTo>
                  <a:pt x="308943" y="53006"/>
                </a:lnTo>
                <a:lnTo>
                  <a:pt x="272316" y="24708"/>
                </a:lnTo>
                <a:lnTo>
                  <a:pt x="229085" y="6464"/>
                </a:lnTo>
                <a:lnTo>
                  <a:pt x="180975" y="0"/>
                </a:lnTo>
                <a:close/>
              </a:path>
            </a:pathLst>
          </a:custGeom>
          <a:solidFill>
            <a:srgbClr val="EBEBE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11010900" y="5610225"/>
            <a:ext cx="647700" cy="647700"/>
          </a:xfrm>
          <a:custGeom>
            <a:rect b="b" l="l" r="r" t="t"/>
            <a:pathLst>
              <a:path extrusionOk="0" h="647700" w="647700">
                <a:moveTo>
                  <a:pt x="323850" y="0"/>
                </a:moveTo>
                <a:lnTo>
                  <a:pt x="276003" y="3511"/>
                </a:lnTo>
                <a:lnTo>
                  <a:pt x="230332" y="13711"/>
                </a:lnTo>
                <a:lnTo>
                  <a:pt x="187340" y="30099"/>
                </a:lnTo>
                <a:lnTo>
                  <a:pt x="147528" y="52175"/>
                </a:lnTo>
                <a:lnTo>
                  <a:pt x="111397" y="79436"/>
                </a:lnTo>
                <a:lnTo>
                  <a:pt x="79448" y="111381"/>
                </a:lnTo>
                <a:lnTo>
                  <a:pt x="52184" y="147511"/>
                </a:lnTo>
                <a:lnTo>
                  <a:pt x="30106" y="187324"/>
                </a:lnTo>
                <a:lnTo>
                  <a:pt x="13714" y="230319"/>
                </a:lnTo>
                <a:lnTo>
                  <a:pt x="3512" y="275994"/>
                </a:lnTo>
                <a:lnTo>
                  <a:pt x="0" y="323850"/>
                </a:lnTo>
                <a:lnTo>
                  <a:pt x="3512" y="371705"/>
                </a:lnTo>
                <a:lnTo>
                  <a:pt x="13714" y="417380"/>
                </a:lnTo>
                <a:lnTo>
                  <a:pt x="30106" y="460375"/>
                </a:lnTo>
                <a:lnTo>
                  <a:pt x="52184" y="500188"/>
                </a:lnTo>
                <a:lnTo>
                  <a:pt x="79448" y="536318"/>
                </a:lnTo>
                <a:lnTo>
                  <a:pt x="111397" y="568263"/>
                </a:lnTo>
                <a:lnTo>
                  <a:pt x="147528" y="595524"/>
                </a:lnTo>
                <a:lnTo>
                  <a:pt x="187340" y="617600"/>
                </a:lnTo>
                <a:lnTo>
                  <a:pt x="230332" y="633988"/>
                </a:lnTo>
                <a:lnTo>
                  <a:pt x="276003" y="644188"/>
                </a:lnTo>
                <a:lnTo>
                  <a:pt x="323850" y="647700"/>
                </a:lnTo>
                <a:lnTo>
                  <a:pt x="371696" y="644188"/>
                </a:lnTo>
                <a:lnTo>
                  <a:pt x="417367" y="633988"/>
                </a:lnTo>
                <a:lnTo>
                  <a:pt x="460359" y="617600"/>
                </a:lnTo>
                <a:lnTo>
                  <a:pt x="500171" y="595524"/>
                </a:lnTo>
                <a:lnTo>
                  <a:pt x="536302" y="568263"/>
                </a:lnTo>
                <a:lnTo>
                  <a:pt x="568251" y="536318"/>
                </a:lnTo>
                <a:lnTo>
                  <a:pt x="595515" y="500188"/>
                </a:lnTo>
                <a:lnTo>
                  <a:pt x="617593" y="460375"/>
                </a:lnTo>
                <a:lnTo>
                  <a:pt x="633985" y="417380"/>
                </a:lnTo>
                <a:lnTo>
                  <a:pt x="644187" y="371705"/>
                </a:lnTo>
                <a:lnTo>
                  <a:pt x="647700" y="323850"/>
                </a:lnTo>
                <a:lnTo>
                  <a:pt x="644187" y="275994"/>
                </a:lnTo>
                <a:lnTo>
                  <a:pt x="633985" y="230319"/>
                </a:lnTo>
                <a:lnTo>
                  <a:pt x="617593" y="187324"/>
                </a:lnTo>
                <a:lnTo>
                  <a:pt x="595515" y="147511"/>
                </a:lnTo>
                <a:lnTo>
                  <a:pt x="568251" y="111381"/>
                </a:lnTo>
                <a:lnTo>
                  <a:pt x="536302" y="79436"/>
                </a:lnTo>
                <a:lnTo>
                  <a:pt x="500171" y="52175"/>
                </a:lnTo>
                <a:lnTo>
                  <a:pt x="460359" y="30099"/>
                </a:lnTo>
                <a:lnTo>
                  <a:pt x="417367" y="13711"/>
                </a:lnTo>
                <a:lnTo>
                  <a:pt x="371696" y="3511"/>
                </a:lnTo>
                <a:lnTo>
                  <a:pt x="323850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687050" y="6134100"/>
            <a:ext cx="247650" cy="2476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3"/>
          <p:cNvGrpSpPr/>
          <p:nvPr/>
        </p:nvGrpSpPr>
        <p:grpSpPr>
          <a:xfrm>
            <a:off x="47625" y="3819523"/>
            <a:ext cx="4124325" cy="3009898"/>
            <a:chOff x="47625" y="3819523"/>
            <a:chExt cx="4124325" cy="3009898"/>
          </a:xfrm>
        </p:grpSpPr>
        <p:pic>
          <p:nvPicPr>
            <p:cNvPr id="113" name="Google Shape;113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725" y="6410325"/>
              <a:ext cx="3705225" cy="2952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7625" y="3819523"/>
              <a:ext cx="1733550" cy="30098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5" name="Google Shape;115;p3"/>
          <p:cNvSpPr txBox="1"/>
          <p:nvPr>
            <p:ph type="title"/>
          </p:nvPr>
        </p:nvSpPr>
        <p:spPr>
          <a:xfrm>
            <a:off x="739775" y="445388"/>
            <a:ext cx="2357120" cy="7581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16" name="Google Shape;116;p3"/>
          <p:cNvSpPr txBox="1"/>
          <p:nvPr>
            <p:ph idx="12" type="sldNum"/>
          </p:nvPr>
        </p:nvSpPr>
        <p:spPr>
          <a:xfrm>
            <a:off x="11353418" y="6473337"/>
            <a:ext cx="151129" cy="1917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3"/>
          <p:cNvSpPr txBox="1"/>
          <p:nvPr/>
        </p:nvSpPr>
        <p:spPr>
          <a:xfrm>
            <a:off x="2509807" y="1041533"/>
            <a:ext cx="5029200" cy="48320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 Statement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Project Overview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End Users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Tools and Technologies</a:t>
            </a:r>
            <a:endParaRPr b="0" i="0" sz="28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Portfolio design and Layout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Features and Functionality</a:t>
            </a:r>
            <a:endParaRPr b="0" i="0" sz="28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 and Screenshots</a:t>
            </a:r>
            <a:endParaRPr b="0" i="0" sz="28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800"/>
              <a:buFont typeface="Calibri"/>
              <a:buAutoNum type="arabicPeriod"/>
            </a:pPr>
            <a:r>
              <a:rPr b="0" i="0" lang="en-US" sz="2800" u="none" cap="none" strike="noStrike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Github Link</a:t>
            </a:r>
            <a:endParaRPr b="0" i="0" sz="28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" name="Google Shape;122;p4"/>
          <p:cNvGrpSpPr/>
          <p:nvPr/>
        </p:nvGrpSpPr>
        <p:grpSpPr>
          <a:xfrm>
            <a:off x="8591175" y="2943225"/>
            <a:ext cx="2762251" cy="3257550"/>
            <a:chOff x="7991475" y="2933700"/>
            <a:chExt cx="2762251" cy="3257550"/>
          </a:xfrm>
        </p:grpSpPr>
        <p:sp>
          <p:nvSpPr>
            <p:cNvPr id="123" name="Google Shape;123;p4"/>
            <p:cNvSpPr/>
            <p:nvPr/>
          </p:nvSpPr>
          <p:spPr>
            <a:xfrm>
              <a:off x="9353550" y="5362575"/>
              <a:ext cx="457200" cy="457200"/>
            </a:xfrm>
            <a:custGeom>
              <a:rect b="b" l="l" r="r" t="t"/>
              <a:pathLst>
                <a:path extrusionOk="0" h="457200" w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>
              <a:off x="9353550" y="5895975"/>
              <a:ext cx="180975" cy="180975"/>
            </a:xfrm>
            <a:custGeom>
              <a:rect b="b" l="l" r="r" t="t"/>
              <a:pathLst>
                <a:path extrusionOk="0" h="180975" w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25" name="Google Shape;125;p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91475" y="2933700"/>
              <a:ext cx="2762251" cy="32575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6" name="Google Shape;126;p4"/>
          <p:cNvSpPr/>
          <p:nvPr/>
        </p:nvSpPr>
        <p:spPr>
          <a:xfrm>
            <a:off x="6696075" y="1695450"/>
            <a:ext cx="314325" cy="323850"/>
          </a:xfrm>
          <a:custGeom>
            <a:rect b="b" l="l" r="r" t="t"/>
            <a:pathLst>
              <a:path extrusionOk="0" h="323850" w="314325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 txBox="1"/>
          <p:nvPr>
            <p:ph type="title"/>
          </p:nvPr>
        </p:nvSpPr>
        <p:spPr>
          <a:xfrm>
            <a:off x="834072" y="575055"/>
            <a:ext cx="56370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Trebuchet MS"/>
              <a:buNone/>
            </a:pPr>
            <a:r>
              <a:rPr lang="en-US" sz="4250"/>
              <a:t>PROBLEM	STATEMENT</a:t>
            </a:r>
            <a:endParaRPr sz="4250"/>
          </a:p>
        </p:txBody>
      </p:sp>
      <p:pic>
        <p:nvPicPr>
          <p:cNvPr id="128" name="Google Shape;128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6467475"/>
            <a:ext cx="2143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4"/>
          <p:cNvSpPr txBox="1"/>
          <p:nvPr>
            <p:ph idx="12" type="sldNum"/>
          </p:nvPr>
        </p:nvSpPr>
        <p:spPr>
          <a:xfrm>
            <a:off x="11353418" y="6473337"/>
            <a:ext cx="1512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936B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0" name="Google Shape;130;p4"/>
          <p:cNvSpPr txBox="1"/>
          <p:nvPr/>
        </p:nvSpPr>
        <p:spPr>
          <a:xfrm>
            <a:off x="0" y="2019300"/>
            <a:ext cx="9378900" cy="4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 today’s competitive environment, a traditional resume is often limited in conveying creativity, practical skills, and interactive experience. Recruiters and clients prefer an easy, engaging, and visually appealing way to evaluate candidates.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challenge is to create a digital platform that not only summarizes academic qualifications and skills but also provides a live demonstration of technical abilities.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My portfolio project was developed to solve this gap – to present my skills and projects in a professional and interactive manner.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135;p5"/>
          <p:cNvGrpSpPr/>
          <p:nvPr/>
        </p:nvGrpSpPr>
        <p:grpSpPr>
          <a:xfrm>
            <a:off x="8658225" y="2647950"/>
            <a:ext cx="3533775" cy="3810000"/>
            <a:chOff x="8658225" y="2647950"/>
            <a:chExt cx="3533775" cy="3810000"/>
          </a:xfrm>
        </p:grpSpPr>
        <p:sp>
          <p:nvSpPr>
            <p:cNvPr id="136" name="Google Shape;136;p5"/>
            <p:cNvSpPr/>
            <p:nvPr/>
          </p:nvSpPr>
          <p:spPr>
            <a:xfrm>
              <a:off x="9353550" y="5362575"/>
              <a:ext cx="457200" cy="457200"/>
            </a:xfrm>
            <a:custGeom>
              <a:rect b="b" l="l" r="r" t="t"/>
              <a:pathLst>
                <a:path extrusionOk="0" h="457200" w="457200">
                  <a:moveTo>
                    <a:pt x="457200" y="0"/>
                  </a:moveTo>
                  <a:lnTo>
                    <a:pt x="0" y="0"/>
                  </a:lnTo>
                  <a:lnTo>
                    <a:pt x="0" y="457200"/>
                  </a:lnTo>
                  <a:lnTo>
                    <a:pt x="457200" y="457200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42AF5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9353550" y="5895975"/>
              <a:ext cx="180975" cy="180975"/>
            </a:xfrm>
            <a:custGeom>
              <a:rect b="b" l="l" r="r" t="t"/>
              <a:pathLst>
                <a:path extrusionOk="0" h="180975" w="180975">
                  <a:moveTo>
                    <a:pt x="180975" y="0"/>
                  </a:moveTo>
                  <a:lnTo>
                    <a:pt x="0" y="0"/>
                  </a:lnTo>
                  <a:lnTo>
                    <a:pt x="0" y="180975"/>
                  </a:lnTo>
                  <a:lnTo>
                    <a:pt x="180975" y="180975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rgbClr val="2D936B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138" name="Google Shape;138;p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8658225" y="2647950"/>
              <a:ext cx="3533775" cy="38100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5"/>
          <p:cNvSpPr/>
          <p:nvPr/>
        </p:nvSpPr>
        <p:spPr>
          <a:xfrm>
            <a:off x="6696075" y="1695450"/>
            <a:ext cx="314325" cy="323850"/>
          </a:xfrm>
          <a:custGeom>
            <a:rect b="b" l="l" r="r" t="t"/>
            <a:pathLst>
              <a:path extrusionOk="0" h="323850" w="314325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 txBox="1"/>
          <p:nvPr>
            <p:ph type="title"/>
          </p:nvPr>
        </p:nvSpPr>
        <p:spPr>
          <a:xfrm>
            <a:off x="739775" y="829627"/>
            <a:ext cx="5263500" cy="67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Trebuchet MS"/>
              <a:buNone/>
            </a:pPr>
            <a:r>
              <a:rPr lang="en-US" sz="4250"/>
              <a:t>PROJECT	OVERVIEW</a:t>
            </a:r>
            <a:endParaRPr sz="4250"/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76275" y="6467475"/>
            <a:ext cx="2143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5"/>
          <p:cNvSpPr txBox="1"/>
          <p:nvPr>
            <p:ph idx="12" type="sldNum"/>
          </p:nvPr>
        </p:nvSpPr>
        <p:spPr>
          <a:xfrm>
            <a:off x="11353418" y="6473337"/>
            <a:ext cx="1512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936B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3" name="Google Shape;143;p5"/>
          <p:cNvSpPr txBox="1"/>
          <p:nvPr/>
        </p:nvSpPr>
        <p:spPr>
          <a:xfrm>
            <a:off x="229825" y="1971173"/>
            <a:ext cx="9753600" cy="403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project is a personal portfolio website that highlights my technical expertise, skills, and projects in a single platform. It is structured into sections such as About Me, Skills, Services, Portfolio, and Contact.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website is designed with a modern responsive layout to ensure accessibility across devices, and it reflects both my personality and technical knowledge.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Overall, the portfolio serves as a professional showcase and helps in connecting with recruiters, clients, and peers effectively.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6"/>
          <p:cNvSpPr/>
          <p:nvPr/>
        </p:nvSpPr>
        <p:spPr>
          <a:xfrm>
            <a:off x="9353550" y="5362575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6"/>
          <p:cNvSpPr/>
          <p:nvPr/>
        </p:nvSpPr>
        <p:spPr>
          <a:xfrm>
            <a:off x="6696075" y="1695450"/>
            <a:ext cx="314325" cy="323850"/>
          </a:xfrm>
          <a:custGeom>
            <a:rect b="b" l="l" r="r" t="t"/>
            <a:pathLst>
              <a:path extrusionOk="0" h="323850" w="314325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/>
          <p:nvPr/>
        </p:nvSpPr>
        <p:spPr>
          <a:xfrm>
            <a:off x="9353550" y="5895975"/>
            <a:ext cx="180975" cy="180975"/>
          </a:xfrm>
          <a:custGeom>
            <a:rect b="b" l="l" r="r" t="t"/>
            <a:pathLst>
              <a:path extrusionOk="0" h="180975" w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6"/>
          <p:cNvSpPr txBox="1"/>
          <p:nvPr>
            <p:ph type="title"/>
          </p:nvPr>
        </p:nvSpPr>
        <p:spPr>
          <a:xfrm>
            <a:off x="699452" y="891793"/>
            <a:ext cx="5014500" cy="51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rebuchet MS"/>
              <a:buNone/>
            </a:pPr>
            <a:r>
              <a:rPr lang="en-US" sz="3200"/>
              <a:t>WHO ARE THE END USERS?</a:t>
            </a:r>
            <a:endParaRPr sz="3200"/>
          </a:p>
        </p:txBody>
      </p:sp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00" y="6172200"/>
            <a:ext cx="2181225" cy="48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 txBox="1"/>
          <p:nvPr>
            <p:ph idx="12" type="sldNum"/>
          </p:nvPr>
        </p:nvSpPr>
        <p:spPr>
          <a:xfrm>
            <a:off x="11353418" y="6473337"/>
            <a:ext cx="1512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936B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4" name="Google Shape;154;p6"/>
          <p:cNvSpPr txBox="1"/>
          <p:nvPr/>
        </p:nvSpPr>
        <p:spPr>
          <a:xfrm>
            <a:off x="57150" y="2019300"/>
            <a:ext cx="97536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portfolio is mainly designed for the following groups: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Recruiters &amp; Employers: To evaluate technical skills, projects, and creativity quickly.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Clients: For freelance opportunities and collaborations.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Peers &amp; Educators: To share knowledge, ideas, and encourage networking.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By targeting these users, the portfolio becomes a versatile tool for career development and professional exposure.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9353550" y="5362575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/>
          <p:nvPr/>
        </p:nvSpPr>
        <p:spPr>
          <a:xfrm>
            <a:off x="6696075" y="1695450"/>
            <a:ext cx="314325" cy="323850"/>
          </a:xfrm>
          <a:custGeom>
            <a:rect b="b" l="l" r="r" t="t"/>
            <a:pathLst>
              <a:path extrusionOk="0" h="323850" w="314325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7"/>
          <p:cNvSpPr/>
          <p:nvPr/>
        </p:nvSpPr>
        <p:spPr>
          <a:xfrm>
            <a:off x="9353550" y="5895975"/>
            <a:ext cx="180975" cy="180975"/>
          </a:xfrm>
          <a:custGeom>
            <a:rect b="b" l="l" r="r" t="t"/>
            <a:pathLst>
              <a:path extrusionOk="0" h="180975" w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7"/>
          <p:cNvSpPr txBox="1"/>
          <p:nvPr>
            <p:ph type="title"/>
          </p:nvPr>
        </p:nvSpPr>
        <p:spPr>
          <a:xfrm>
            <a:off x="277025" y="0"/>
            <a:ext cx="11503800" cy="9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rebuchet MS"/>
              <a:buNone/>
            </a:pPr>
            <a:r>
              <a:rPr lang="en-US" sz="3600"/>
              <a:t>TOOLS AND TECHNIQUES</a:t>
            </a:r>
            <a:endParaRPr sz="3600"/>
          </a:p>
        </p:txBody>
      </p:sp>
      <p:pic>
        <p:nvPicPr>
          <p:cNvPr id="163" name="Google Shape;16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6275" y="6467475"/>
            <a:ext cx="2143125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7"/>
          <p:cNvSpPr txBox="1"/>
          <p:nvPr>
            <p:ph idx="12" type="sldNum"/>
          </p:nvPr>
        </p:nvSpPr>
        <p:spPr>
          <a:xfrm>
            <a:off x="11353418" y="6473337"/>
            <a:ext cx="1512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936B"/>
              </a:buClr>
              <a:buSzPts val="1100"/>
              <a:buFont typeface="Trebuchet MS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" name="Google Shape;165;p7"/>
          <p:cNvSpPr txBox="1"/>
          <p:nvPr/>
        </p:nvSpPr>
        <p:spPr>
          <a:xfrm>
            <a:off x="2819400" y="901212"/>
            <a:ext cx="9753600" cy="595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portfolio was built using a strong combination of front-end and programming technologies: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Frontend: HTML, CSS, and JavaScript were used to design the user interface and interactivity.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Programming Knowledge: Python, Java, and C++ were applied for logic-building and showcasing coding expertise.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Hosting: GitHub Pages was used to deploy and maintain the website online.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t/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tools ensure that the portfolio is not only visually appealing but also technically strong and reliable.</a:t>
            </a:r>
            <a:endParaRPr b="0" i="0" sz="25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6" name="Google Shape;16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060325"/>
            <a:ext cx="2695574" cy="3248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"/>
          <p:cNvSpPr/>
          <p:nvPr/>
        </p:nvSpPr>
        <p:spPr>
          <a:xfrm>
            <a:off x="9353550" y="5895975"/>
            <a:ext cx="180975" cy="180975"/>
          </a:xfrm>
          <a:custGeom>
            <a:rect b="b" l="l" r="r" t="t"/>
            <a:pathLst>
              <a:path extrusionOk="0" h="180975" w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2" name="Google Shape;17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875" y="6467475"/>
            <a:ext cx="762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8"/>
          <p:cNvSpPr txBox="1"/>
          <p:nvPr/>
        </p:nvSpPr>
        <p:spPr>
          <a:xfrm>
            <a:off x="11277218" y="6473337"/>
            <a:ext cx="2286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936B"/>
              </a:buClr>
              <a:buSzPts val="1100"/>
              <a:buFont typeface="Trebuchet MS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4" name="Google Shape;174;p8"/>
          <p:cNvSpPr txBox="1"/>
          <p:nvPr/>
        </p:nvSpPr>
        <p:spPr>
          <a:xfrm>
            <a:off x="739775" y="291147"/>
            <a:ext cx="8794800" cy="6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rebuchet MS"/>
              <a:buNone/>
            </a:pPr>
            <a:r>
              <a:rPr b="1" i="0" lang="en-US" sz="4000" u="none" cap="none" strike="noStrike">
                <a:solidFill>
                  <a:schemeClr val="dk1"/>
                </a:solidFill>
                <a:latin typeface="Trebuchet MS"/>
                <a:ea typeface="Trebuchet MS"/>
                <a:cs typeface="Trebuchet MS"/>
                <a:sym typeface="Trebuchet MS"/>
              </a:rPr>
              <a:t>POTFOLIO DESIGN AND LAYOUT</a:t>
            </a:r>
            <a:endParaRPr b="0" i="0" sz="40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75" name="Google Shape;175;p8"/>
          <p:cNvSpPr/>
          <p:nvPr/>
        </p:nvSpPr>
        <p:spPr>
          <a:xfrm>
            <a:off x="10058400" y="525141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 txBox="1"/>
          <p:nvPr/>
        </p:nvSpPr>
        <p:spPr>
          <a:xfrm>
            <a:off x="739775" y="1440000"/>
            <a:ext cx="9753600" cy="541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design philosophy focuses on simplicity, modern visuals, and user experience. A blue-themed color scheme is maintained for professionalism and consistency.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layout is divided into clean sections: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About Me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Skills (with progress bars)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Services offered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Portfolio showcase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 form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This structure ensures easy navigation, readability, and engagement for any visitor.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 txBox="1"/>
          <p:nvPr>
            <p:ph type="title"/>
          </p:nvPr>
        </p:nvSpPr>
        <p:spPr>
          <a:xfrm>
            <a:off x="755332" y="385444"/>
            <a:ext cx="10681200" cy="7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FEATURES AND FUNCTIONALITY</a:t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755323" y="1143623"/>
            <a:ext cx="9753600" cy="58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portfolio includes multiple interactive features that improve usability and engagement: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Interactive navigation bar for smooth movement across sections.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Skill progress bars to visually showcase technical strengths.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Portfolio section with projects and categories.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Contact form for direct communication with clients or recruiters.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GitHub integration for direct access to code repositories.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These functionalities make the portfolio a dynamic platform rather than a static resume.</a:t>
            </a:r>
            <a:endParaRPr b="0" i="0" sz="23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"/>
          <p:cNvSpPr/>
          <p:nvPr/>
        </p:nvSpPr>
        <p:spPr>
          <a:xfrm>
            <a:off x="9353550" y="5362575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0"/>
          <p:cNvSpPr/>
          <p:nvPr/>
        </p:nvSpPr>
        <p:spPr>
          <a:xfrm>
            <a:off x="6696075" y="1695450"/>
            <a:ext cx="314325" cy="323850"/>
          </a:xfrm>
          <a:custGeom>
            <a:rect b="b" l="l" r="r" t="t"/>
            <a:pathLst>
              <a:path extrusionOk="0" h="323850" w="314325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9353550" y="5895975"/>
            <a:ext cx="180975" cy="180975"/>
          </a:xfrm>
          <a:custGeom>
            <a:rect b="b" l="l" r="r" t="t"/>
            <a:pathLst>
              <a:path extrusionOk="0" h="180975" w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0"/>
          <p:cNvSpPr txBox="1"/>
          <p:nvPr>
            <p:ph type="title"/>
          </p:nvPr>
        </p:nvSpPr>
        <p:spPr>
          <a:xfrm>
            <a:off x="739775" y="654938"/>
            <a:ext cx="8480400" cy="6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65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50"/>
              <a:buFont typeface="Trebuchet MS"/>
              <a:buNone/>
            </a:pPr>
            <a:r>
              <a:rPr lang="en-US" sz="4250"/>
              <a:t>RESULTS AND SCREENSHOTS</a:t>
            </a:r>
            <a:endParaRPr sz="4250"/>
          </a:p>
        </p:txBody>
      </p:sp>
      <p:sp>
        <p:nvSpPr>
          <p:cNvPr id="191" name="Google Shape;191;p10"/>
          <p:cNvSpPr txBox="1"/>
          <p:nvPr/>
        </p:nvSpPr>
        <p:spPr>
          <a:xfrm>
            <a:off x="11277218" y="6473337"/>
            <a:ext cx="2286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936B"/>
              </a:buClr>
              <a:buSzPts val="1100"/>
              <a:buFont typeface="Trebuchet MS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192" name="Google Shape;192;p10"/>
          <p:cNvSpPr txBox="1"/>
          <p:nvPr/>
        </p:nvSpPr>
        <p:spPr>
          <a:xfrm>
            <a:off x="2743200" y="2354703"/>
            <a:ext cx="8534100" cy="9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rgbClr val="0D0D0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0"/>
          <p:cNvSpPr txBox="1"/>
          <p:nvPr/>
        </p:nvSpPr>
        <p:spPr>
          <a:xfrm>
            <a:off x="2526025" y="1695450"/>
            <a:ext cx="9753600" cy="489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portfolio was successfully deployed at: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👉 </a:t>
            </a:r>
            <a:r>
              <a:rPr lang="en-US" sz="2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https://sabaraj1213-maker.github.io/saba-portfolio</a:t>
            </a:r>
            <a:r>
              <a:rPr lang="en-US" sz="2200">
                <a:latin typeface="Calibri"/>
                <a:ea typeface="Calibri"/>
                <a:cs typeface="Calibri"/>
                <a:sym typeface="Calibri"/>
              </a:rPr>
              <a:t> /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Key results: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Professional Online Presence: An accessible digital identity for recruiters and clients.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Skill Demonstration: Visual proof of coding and designing abilities.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User Experience: Mobile-friendly, responsive, and easy-to-navigate layout.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Screenshots of different sections (Home, Skills, Portfolio, Contact) can be showcased during the presentation to demonstrate its effectiveness.</a:t>
            </a:r>
            <a:endParaRPr b="0" i="0" sz="2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4" name="Google Shape;194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2862261"/>
            <a:ext cx="2466975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52400"/>
            <a:ext cx="2948940" cy="655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29000" y="956263"/>
            <a:ext cx="7697151" cy="5433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65750" y="0"/>
            <a:ext cx="9260525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7010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52400"/>
            <a:ext cx="12192000" cy="701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6"/>
          <p:cNvSpPr/>
          <p:nvPr/>
        </p:nvSpPr>
        <p:spPr>
          <a:xfrm>
            <a:off x="9353550" y="5362575"/>
            <a:ext cx="457200" cy="457200"/>
          </a:xfrm>
          <a:custGeom>
            <a:rect b="b" l="l" r="r" t="t"/>
            <a:pathLst>
              <a:path extrusionOk="0" h="457200" w="457200">
                <a:moveTo>
                  <a:pt x="457200" y="0"/>
                </a:moveTo>
                <a:lnTo>
                  <a:pt x="0" y="0"/>
                </a:lnTo>
                <a:lnTo>
                  <a:pt x="0" y="457200"/>
                </a:lnTo>
                <a:lnTo>
                  <a:pt x="457200" y="457200"/>
                </a:lnTo>
                <a:lnTo>
                  <a:pt x="457200" y="0"/>
                </a:lnTo>
                <a:close/>
              </a:path>
            </a:pathLst>
          </a:custGeom>
          <a:solidFill>
            <a:srgbClr val="42AF5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6"/>
          <p:cNvSpPr/>
          <p:nvPr/>
        </p:nvSpPr>
        <p:spPr>
          <a:xfrm>
            <a:off x="6696075" y="1695450"/>
            <a:ext cx="314325" cy="323850"/>
          </a:xfrm>
          <a:custGeom>
            <a:rect b="b" l="l" r="r" t="t"/>
            <a:pathLst>
              <a:path extrusionOk="0" h="323850" w="314325">
                <a:moveTo>
                  <a:pt x="314325" y="0"/>
                </a:moveTo>
                <a:lnTo>
                  <a:pt x="0" y="0"/>
                </a:lnTo>
                <a:lnTo>
                  <a:pt x="0" y="323850"/>
                </a:lnTo>
                <a:lnTo>
                  <a:pt x="314325" y="323850"/>
                </a:lnTo>
                <a:lnTo>
                  <a:pt x="314325" y="0"/>
                </a:lnTo>
                <a:close/>
              </a:path>
            </a:pathLst>
          </a:custGeom>
          <a:solidFill>
            <a:srgbClr val="2D83C3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6"/>
          <p:cNvSpPr/>
          <p:nvPr/>
        </p:nvSpPr>
        <p:spPr>
          <a:xfrm>
            <a:off x="9353550" y="5895975"/>
            <a:ext cx="180975" cy="180975"/>
          </a:xfrm>
          <a:custGeom>
            <a:rect b="b" l="l" r="r" t="t"/>
            <a:pathLst>
              <a:path extrusionOk="0" h="180975" w="180975">
                <a:moveTo>
                  <a:pt x="180975" y="0"/>
                </a:moveTo>
                <a:lnTo>
                  <a:pt x="0" y="0"/>
                </a:lnTo>
                <a:lnTo>
                  <a:pt x="0" y="180975"/>
                </a:lnTo>
                <a:lnTo>
                  <a:pt x="180975" y="180975"/>
                </a:lnTo>
                <a:lnTo>
                  <a:pt x="180975" y="0"/>
                </a:lnTo>
                <a:close/>
              </a:path>
            </a:pathLst>
          </a:custGeom>
          <a:solidFill>
            <a:srgbClr val="2D936B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3" name="Google Shape;2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66875" y="6467475"/>
            <a:ext cx="76200" cy="1778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6"/>
          <p:cNvSpPr txBox="1"/>
          <p:nvPr>
            <p:ph type="title"/>
          </p:nvPr>
        </p:nvSpPr>
        <p:spPr>
          <a:xfrm>
            <a:off x="755332" y="385444"/>
            <a:ext cx="4578600" cy="75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3325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rebuchet MS"/>
              <a:buNone/>
            </a:pPr>
            <a:r>
              <a:rPr lang="en-US"/>
              <a:t>CONCLUSION</a:t>
            </a:r>
            <a:endParaRPr/>
          </a:p>
        </p:txBody>
      </p:sp>
      <p:sp>
        <p:nvSpPr>
          <p:cNvPr id="235" name="Google Shape;235;p16"/>
          <p:cNvSpPr txBox="1"/>
          <p:nvPr/>
        </p:nvSpPr>
        <p:spPr>
          <a:xfrm>
            <a:off x="11277218" y="6473337"/>
            <a:ext cx="228600" cy="19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975">
            <a:spAutoFit/>
          </a:bodyPr>
          <a:lstStyle/>
          <a:p>
            <a:pPr indent="0" lvl="0" marL="381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936B"/>
              </a:buClr>
              <a:buSzPts val="1100"/>
              <a:buFont typeface="Trebuchet MS"/>
              <a:buNone/>
            </a:pPr>
            <a:fld id="{00000000-1234-1234-1234-123412341234}" type="slidenum">
              <a:rPr b="0" i="0" lang="en-US" sz="1100" u="none" cap="none" strike="noStrike">
                <a:solidFill>
                  <a:srgbClr val="2D936B"/>
                </a:solidFill>
                <a:latin typeface="Trebuchet MS"/>
                <a:ea typeface="Trebuchet MS"/>
                <a:cs typeface="Trebuchet MS"/>
                <a:sym typeface="Trebuchet MS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rebuchet MS"/>
              <a:ea typeface="Trebuchet MS"/>
              <a:cs typeface="Trebuchet MS"/>
              <a:sym typeface="Trebuchet MS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0" y="2019300"/>
            <a:ext cx="100641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The portfolio project proves that a digital resume/portfolio is far more impactful than a static CV. It highlights skills, projects, and creativity in an interactive way.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It also provides me with a strong professional identity, helping me stand out in academic and career opportunities.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 GitHub Repository: </a:t>
            </a:r>
            <a:r>
              <a:rPr b="0" i="0" lang="en-US" sz="30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4"/>
              </a:rPr>
              <a:t>https://sabaraj1213-maker.github.io/saba-portfolio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/</a:t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6573" y="385450"/>
            <a:ext cx="4625449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